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notesSlides/notesSlide7.xml" ContentType="application/vnd.openxmlformats-officedocument.presentationml.notesSlide+xml"/>
  <Override PartName="/ppt/charts/chart7.xml" ContentType="application/vnd.openxmlformats-officedocument.drawingml.chart+xml"/>
  <Override PartName="/ppt/notesSlides/notesSlide8.xml" ContentType="application/vnd.openxmlformats-officedocument.presentationml.notesSlide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charts/chart9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DAD-4F82-8704-00B97EA1AC6E}"/>
              </c:ext>
            </c:extLst>
          </c:dPt>
          <c:dPt>
            <c:idx val="1"/>
            <c:bubble3D val="0"/>
            <c:spPr>
              <a:solidFill>
                <a:srgbClr val="FF4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AD-4F82-8704-00B97EA1AC6E}"/>
              </c:ext>
            </c:extLst>
          </c:dPt>
          <c:dPt>
            <c:idx val="2"/>
            <c:bubble3D val="0"/>
            <c:spPr>
              <a:solidFill>
                <a:srgbClr val="FF8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DAD-4F82-8704-00B97EA1AC6E}"/>
              </c:ext>
            </c:extLst>
          </c:dPt>
          <c:dPt>
            <c:idx val="3"/>
            <c:bubble3D val="0"/>
            <c:spPr>
              <a:solidFill>
                <a:srgbClr val="4B556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DAD-4F82-8704-00B97EA1AC6E}"/>
              </c:ext>
            </c:extLst>
          </c:dPt>
          <c:dPt>
            <c:idx val="4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DAD-4F82-8704-00B97EA1AC6E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DAD-4F82-8704-00B97EA1AC6E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DAD-4F82-8704-00B97EA1AC6E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AD-4F82-8704-00B97EA1AC6E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DAD-4F82-8704-00B97EA1AC6E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DAD-4F82-8704-00B97EA1AC6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Rejected</c:v>
                </c:pt>
                <c:pt idx="1">
                  <c:v>Team Allocated</c:v>
                </c:pt>
                <c:pt idx="2">
                  <c:v>Started</c:v>
                </c:pt>
                <c:pt idx="3">
                  <c:v>Dropped Out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3569</c:v>
                </c:pt>
                <c:pt idx="1">
                  <c:v>3276</c:v>
                </c:pt>
                <c:pt idx="2">
                  <c:v>767</c:v>
                </c:pt>
                <c:pt idx="3">
                  <c:v>617</c:v>
                </c:pt>
                <c:pt idx="4">
                  <c:v>329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DAD-4F82-8704-00B97EA1AC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B0B8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5254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FF45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F57-4278-9BB0-533928FCC59A}"/>
              </c:ext>
            </c:extLst>
          </c:dPt>
          <c:dPt>
            <c:idx val="1"/>
            <c:invertIfNegative val="0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F57-4278-9BB0-533928FCC59A}"/>
              </c:ext>
            </c:extLst>
          </c:dPt>
          <c:dPt>
            <c:idx val="2"/>
            <c:invertIfNegative val="0"/>
            <c:bubble3D val="0"/>
            <c:spPr>
              <a:solidFill>
                <a:srgbClr val="FF8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F57-4278-9BB0-533928FCC59A}"/>
              </c:ext>
            </c:extLst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F57-4278-9BB0-533928FCC59A}"/>
              </c:ext>
            </c:extLst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F57-4278-9BB0-533928FCC59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Internship</c:v>
                </c:pt>
                <c:pt idx="1">
                  <c:v>Course</c:v>
                </c:pt>
                <c:pt idx="2">
                  <c:v>Event</c:v>
                </c:pt>
                <c:pt idx="3">
                  <c:v>Competition</c:v>
                </c:pt>
                <c:pt idx="4">
                  <c:v>Engagement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5421</c:v>
                </c:pt>
                <c:pt idx="1">
                  <c:v>2037</c:v>
                </c:pt>
                <c:pt idx="2">
                  <c:v>545</c:v>
                </c:pt>
                <c:pt idx="3">
                  <c:v>425</c:v>
                </c:pt>
                <c:pt idx="4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F57-4278-9BB0-533928FCC59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5254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4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88A-4123-A6FA-8E95916732C2}"/>
              </c:ext>
            </c:extLst>
          </c:dPt>
          <c:dPt>
            <c:idx val="1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8A-4123-A6FA-8E95916732C2}"/>
              </c:ext>
            </c:extLst>
          </c:dPt>
          <c:dPt>
            <c:idx val="2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8A-4123-A6FA-8E95916732C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88A-4123-A6FA-8E95916732C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88A-4123-A6FA-8E95916732C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88A-4123-A6FA-8E95916732C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Female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5018</c:v>
                </c:pt>
                <c:pt idx="1">
                  <c:v>3522</c:v>
                </c:pt>
                <c:pt idx="2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88A-4123-A6FA-8E95916732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0B8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52545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Learners</c:v>
                </c:pt>
              </c:strCache>
            </c:strRef>
          </c:tx>
          <c:spPr>
            <a:solidFill>
              <a:srgbClr val="D6338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39C-475E-B814-AC5E7123680B}"/>
              </c:ext>
            </c:extLst>
          </c:dPt>
          <c:dPt>
            <c:idx val="1"/>
            <c:invertIfNegative val="0"/>
            <c:bubble3D val="0"/>
            <c:spPr>
              <a:solidFill>
                <a:srgbClr val="FF4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9C-475E-B814-AC5E7123680B}"/>
              </c:ext>
            </c:extLst>
          </c:dPt>
          <c:dPt>
            <c:idx val="2"/>
            <c:invertIfNegative val="0"/>
            <c:bubble3D val="0"/>
            <c:spPr>
              <a:solidFill>
                <a:srgbClr val="FF8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9C-475E-B814-AC5E7123680B}"/>
              </c:ext>
            </c:extLst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39C-475E-B814-AC5E7123680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16–20</c:v>
                </c:pt>
                <c:pt idx="1">
                  <c:v>21–25</c:v>
                </c:pt>
                <c:pt idx="2">
                  <c:v>26–30</c:v>
                </c:pt>
                <c:pt idx="3">
                  <c:v>31+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1370</c:v>
                </c:pt>
                <c:pt idx="1">
                  <c:v>5520</c:v>
                </c:pt>
                <c:pt idx="2">
                  <c:v>1117</c:v>
                </c:pt>
                <c:pt idx="3">
                  <c:v>551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39C-475E-B814-AC5E712368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52545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Applications</c:v>
                </c:pt>
              </c:strCache>
            </c:strRef>
          </c:tx>
          <c:spPr>
            <a:solidFill>
              <a:srgbClr val="FF45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785-4495-9CCF-84BB97E2AA56}"/>
              </c:ext>
            </c:extLst>
          </c:dPt>
          <c:dPt>
            <c:idx val="1"/>
            <c:invertIfNegative val="0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785-4495-9CCF-84BB97E2AA56}"/>
              </c:ext>
            </c:extLst>
          </c:dPt>
          <c:dPt>
            <c:idx val="2"/>
            <c:invertIfNegative val="0"/>
            <c:bubble3D val="0"/>
            <c:spPr>
              <a:solidFill>
                <a:srgbClr val="FF8C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785-4495-9CCF-84BB97E2AA56}"/>
              </c:ext>
            </c:extLst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785-4495-9CCF-84BB97E2AA56}"/>
              </c:ext>
            </c:extLst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785-4495-9CCF-84BB97E2AA56}"/>
              </c:ext>
            </c:extLst>
          </c:dPt>
          <c:dPt>
            <c:idx val="5"/>
            <c:invertIfNegative val="0"/>
            <c:bubble3D val="0"/>
            <c:spPr>
              <a:solidFill>
                <a:srgbClr val="6B72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785-4495-9CCF-84BB97E2AA5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N. America</c:v>
                </c:pt>
                <c:pt idx="1">
                  <c:v>Asia</c:v>
                </c:pt>
                <c:pt idx="2">
                  <c:v>Africa</c:v>
                </c:pt>
                <c:pt idx="3">
                  <c:v>Middle East</c:v>
                </c:pt>
                <c:pt idx="4">
                  <c:v>Europe</c:v>
                </c:pt>
                <c:pt idx="5">
                  <c:v>Lat. Am.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3985</c:v>
                </c:pt>
                <c:pt idx="1">
                  <c:v>3198</c:v>
                </c:pt>
                <c:pt idx="2">
                  <c:v>1270</c:v>
                </c:pt>
                <c:pt idx="3">
                  <c:v>52</c:v>
                </c:pt>
                <c:pt idx="4">
                  <c:v>30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785-4495-9CCF-84BB97E2AA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5254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FF45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Gradient Boosting</c:v>
                </c:pt>
                <c:pt idx="2">
                  <c:v>Logistic Regression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86.29</c:v>
                </c:pt>
                <c:pt idx="1">
                  <c:v>86.71</c:v>
                </c:pt>
                <c:pt idx="2">
                  <c:v>86.05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97-4580-9902-1EB7A4D84A9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AUC-ROC</c:v>
                </c:pt>
              </c:strCache>
            </c:strRef>
          </c:tx>
          <c:spPr>
            <a:solidFill>
              <a:srgbClr val="D633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Gradient Boosting</c:v>
                </c:pt>
                <c:pt idx="2">
                  <c:v>Logistic Regression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91.7</c:v>
                </c:pt>
                <c:pt idx="1">
                  <c:v>91.99</c:v>
                </c:pt>
                <c:pt idx="2">
                  <c:v>90.89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97-4580-9902-1EB7A4D84A9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FF8C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Forest</c:v>
                </c:pt>
                <c:pt idx="1">
                  <c:v>Gradient Boosting</c:v>
                </c:pt>
                <c:pt idx="2">
                  <c:v>Logistic Regression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85.88</c:v>
                </c:pt>
                <c:pt idx="1">
                  <c:v>86.27</c:v>
                </c:pt>
                <c:pt idx="2">
                  <c:v>85.67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97-4580-9902-1EB7A4D84A9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6"/>
          <c:min val="80"/>
        </c:scaling>
        <c:delete val="0"/>
        <c:axPos val="l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0B8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52545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RF Importance</c:v>
                </c:pt>
              </c:strCache>
            </c:strRef>
          </c:tx>
          <c:spPr>
            <a:solidFill>
              <a:srgbClr val="FF45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Gender</c:v>
                </c:pt>
                <c:pt idx="1">
                  <c:v>Age Group</c:v>
                </c:pt>
                <c:pt idx="2">
                  <c:v>Learner Age</c:v>
                </c:pt>
                <c:pt idx="3">
                  <c:v>App. Quarter</c:v>
                </c:pt>
                <c:pt idx="4">
                  <c:v>Region</c:v>
                </c:pt>
                <c:pt idx="5">
                  <c:v>Opp. Category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2.5</c:v>
                </c:pt>
                <c:pt idx="1">
                  <c:v>7.1</c:v>
                </c:pt>
                <c:pt idx="2">
                  <c:v>10.8</c:v>
                </c:pt>
                <c:pt idx="3">
                  <c:v>11.8</c:v>
                </c:pt>
                <c:pt idx="4">
                  <c:v>12.8</c:v>
                </c:pt>
                <c:pt idx="5">
                  <c:v>54.9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76-41A9-BC1F-6038138682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GB Importance</c:v>
                </c:pt>
              </c:strCache>
            </c:strRef>
          </c:tx>
          <c:spPr>
            <a:solidFill>
              <a:srgbClr val="D633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Gender</c:v>
                </c:pt>
                <c:pt idx="1">
                  <c:v>Age Group</c:v>
                </c:pt>
                <c:pt idx="2">
                  <c:v>Learner Age</c:v>
                </c:pt>
                <c:pt idx="3">
                  <c:v>App. Quarter</c:v>
                </c:pt>
                <c:pt idx="4">
                  <c:v>Region</c:v>
                </c:pt>
                <c:pt idx="5">
                  <c:v>Opp. Category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2.6</c:v>
                </c:pt>
                <c:pt idx="1">
                  <c:v>6.8</c:v>
                </c:pt>
                <c:pt idx="2">
                  <c:v>11</c:v>
                </c:pt>
                <c:pt idx="3">
                  <c:v>13.2</c:v>
                </c:pt>
                <c:pt idx="4">
                  <c:v>14.3</c:v>
                </c:pt>
                <c:pt idx="5">
                  <c:v>52.1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76-41A9-BC1F-6038138682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B0B8C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252545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Ensemble Avg Prob (%)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FF1-4282-98D2-A724FB83F6F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FF1-4282-98D2-A724FB83F6F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FF1-4282-98D2-A724FB83F6FB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FF1-4282-98D2-A724FB83F6FB}"/>
              </c:ext>
            </c:extLst>
          </c:dPt>
          <c:dPt>
            <c:idx val="4"/>
            <c:invertIfNegative val="0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FF1-4282-98D2-A724FB83F6F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Engagement
(avg)</c:v>
                </c:pt>
                <c:pt idx="1">
                  <c:v>Event
(avg)</c:v>
                </c:pt>
                <c:pt idx="2">
                  <c:v>Course
(avg)</c:v>
                </c:pt>
                <c:pt idx="3">
                  <c:v>Competition
(avg)</c:v>
                </c:pt>
                <c:pt idx="4">
                  <c:v>Internship
(avg)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99.4</c:v>
                </c:pt>
                <c:pt idx="1">
                  <c:v>98.6</c:v>
                </c:pt>
                <c:pt idx="2">
                  <c:v>98.3</c:v>
                </c:pt>
                <c:pt idx="3">
                  <c:v>97.4</c:v>
                </c:pt>
                <c:pt idx="4">
                  <c:v>41.8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FF1-4282-98D2-A724FB83F6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</c:scaling>
        <c:delete val="0"/>
        <c:axPos val="b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52545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 Applications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1517</c:v>
                </c:pt>
                <c:pt idx="1">
                  <c:v>1312</c:v>
                </c:pt>
                <c:pt idx="2">
                  <c:v>265</c:v>
                </c:pt>
                <c:pt idx="3">
                  <c:v>195</c:v>
                </c:pt>
                <c:pt idx="4">
                  <c:v>218</c:v>
                </c:pt>
                <c:pt idx="5">
                  <c:v>180</c:v>
                </c:pt>
                <c:pt idx="6">
                  <c:v>177</c:v>
                </c:pt>
                <c:pt idx="7">
                  <c:v>143</c:v>
                </c:pt>
                <c:pt idx="8">
                  <c:v>130</c:v>
                </c:pt>
                <c:pt idx="9">
                  <c:v>165</c:v>
                </c:pt>
                <c:pt idx="10">
                  <c:v>158</c:v>
                </c:pt>
                <c:pt idx="11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7D-47C0-9779-403BAA3DE4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7415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525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394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Introduce the team and the scope — 4 weeks of analysis culminating in actionable programme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1–4 project arc. Dataset: 8,558 records, 26 features, 3 ML models trained.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Internships dominate demand but have lowest success rate. Rejection rate = 41.7%.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Demographics: dominant cohort 21–25. Africa is the third-largest and fastest-growing region.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Boosting wins on every metric. Category dominance = supply problem, not learner quality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Opportunity Category alone = 54.9% of predictive power. This confirms capacity is the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Heatmap confirms category × region interaction. Internship demand vs capacity = the key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Q4 outreach window (Oct–Nov) is the evidence-backed timing to prime Q1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recommendations from critical to low priority. All grounded in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confidence. All 5 takeaways are evidence-backed. Model is ready to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8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D63384">
              <a:alpha val="20000"/>
            </a:srgbClr>
          </a:solidFill>
          <a:ln w="12700">
            <a:solidFill>
              <a:srgbClr val="D6338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FF4500">
              <a:alpha val="15000"/>
            </a:srgbClr>
          </a:solidFill>
          <a:ln w="12700">
            <a:solidFill>
              <a:srgbClr val="FF4500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182880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0" y="182880"/>
            <a:ext cx="1645920" cy="411480"/>
          </a:xfrm>
          <a:prstGeom prst="roundRect">
            <a:avLst>
              <a:gd name="adj" fmla="val 11111"/>
            </a:avLst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0" y="182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TEAM 8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PARTICIPATION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ANALYSIS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45720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 · Final Program Insights Report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Internship  ·  </a:t>
            </a:r>
            <a:r>
              <a:rPr lang="en-US" sz="1200" dirty="0" err="1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Excelerate</a:t>
            </a:r>
            <a:r>
              <a:rPr lang="en-US" sz="12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146304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60020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70992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7099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97280" y="1655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Methodology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20208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Dataset, tools, and analytical approach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271576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7157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97280" y="2660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— Participation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30266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Trends, demographics, and engagement patterns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361188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48640" y="372160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7216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7280" y="36667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 Results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097280" y="40325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models, performance metrics, probabilities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54880" y="160020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46320" y="170992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46320" y="17099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394960" y="16550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Visualisations &amp; Dashboard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394960" y="202082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Charts, heatmaps, feature importance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260604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46320" y="271576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271576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394960" y="26609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394960" y="302666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prioritised strategies + deployment roadmap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54880" y="361188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846320" y="3721608"/>
            <a:ext cx="457200" cy="566928"/>
          </a:xfrm>
          <a:prstGeom prst="roundRect">
            <a:avLst>
              <a:gd name="adj" fmla="val 10000"/>
            </a:avLst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0" y="372160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394960" y="366674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 &amp; Feedback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394960" y="40325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insights and internship learnings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146304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4980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METHODOLOGY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457200" y="13898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8,558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60604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606040" y="13898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3,026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260604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Learners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54880" y="13898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475488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03720" y="137160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903720" y="138988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2,089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6903720" y="1920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26060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2697480"/>
            <a:ext cx="1737360" cy="320040"/>
          </a:xfrm>
          <a:prstGeom prst="roundRect">
            <a:avLst>
              <a:gd name="adj" fmla="val 17143"/>
            </a:avLst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Understanding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Documentation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395728" y="3273552"/>
            <a:ext cx="182880" cy="0"/>
          </a:xfrm>
          <a:prstGeom prst="line">
            <a:avLst/>
          </a:prstGeom>
          <a:noFill/>
          <a:ln w="25400">
            <a:solidFill>
              <a:srgbClr val="FF450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606040" y="26060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697480" y="2697480"/>
            <a:ext cx="1737360" cy="320040"/>
          </a:xfrm>
          <a:prstGeom prst="roundRect">
            <a:avLst>
              <a:gd name="adj" fmla="val 17143"/>
            </a:avLst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97480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2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697480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(EDA)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44568" y="3273552"/>
            <a:ext cx="182880" cy="0"/>
          </a:xfrm>
          <a:prstGeom prst="line">
            <a:avLst/>
          </a:prstGeom>
          <a:noFill/>
          <a:ln w="25400">
            <a:solidFill>
              <a:srgbClr val="FF450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54880" y="26060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46320" y="2697480"/>
            <a:ext cx="1737360" cy="320040"/>
          </a:xfrm>
          <a:prstGeom prst="roundRect">
            <a:avLst>
              <a:gd name="adj" fmla="val 17143"/>
            </a:avLst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0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3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46320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Predictions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693408" y="3273552"/>
            <a:ext cx="182880" cy="0"/>
          </a:xfrm>
          <a:prstGeom prst="line">
            <a:avLst/>
          </a:prstGeom>
          <a:noFill/>
          <a:ln w="25400">
            <a:solidFill>
              <a:srgbClr val="FF450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903720" y="260604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995160" y="2697480"/>
            <a:ext cx="1737360" cy="320040"/>
          </a:xfrm>
          <a:prstGeom prst="roundRect">
            <a:avLst>
              <a:gd name="adj" fmla="val 17143"/>
            </a:avLst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95160" y="2697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995160" y="30632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Report &amp;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5720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4500"/>
                </a:solidFill>
              </a:rPr>
              <a:t>Tools Used: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155448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·  scikit-learn  ·  pandas  ·  matplotlib  ·  seaborn  ·  Microsoft Word  ·  PowerPoint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146304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— PARTICIPATION TRENDS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325880"/>
          <a:ext cx="41148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27432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500"/>
                </a:solidFill>
              </a:rPr>
              <a:t>Application Status</a:t>
            </a:r>
            <a:endParaRPr lang="en-US" sz="13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4572000" y="132588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 2"/>
          <p:cNvSpPr/>
          <p:nvPr/>
        </p:nvSpPr>
        <p:spPr>
          <a:xfrm>
            <a:off x="4572000" y="1097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500"/>
                </a:solidFill>
              </a:rPr>
              <a:t>Applications by Category</a:t>
            </a:r>
            <a:endParaRPr lang="en-US" sz="1300" dirty="0"/>
          </a:p>
        </p:txBody>
      </p:sp>
      <p:sp>
        <p:nvSpPr>
          <p:cNvPr id="8" name="Shape 3"/>
          <p:cNvSpPr/>
          <p:nvPr/>
        </p:nvSpPr>
        <p:spPr>
          <a:xfrm>
            <a:off x="274320" y="46634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F4500">
              <a:alpha val="15000"/>
            </a:srgbClr>
          </a:solidFill>
          <a:ln w="12700">
            <a:solidFill>
              <a:srgbClr val="FF4500">
                <a:alpha val="40000"/>
              </a:srgbClr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Internships = 63.3% of demand but only 21.5% Active rate — the core platform challenge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146304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 &amp; GEOGRAPHIC INSIGHTS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325880"/>
          <a:ext cx="27432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27432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500"/>
                </a:solidFill>
              </a:rPr>
              <a:t>Gender Split</a:t>
            </a:r>
            <a:endParaRPr lang="en-US" sz="1200" dirty="0"/>
          </a:p>
        </p:txBody>
      </p:sp>
      <p:graphicFrame>
        <p:nvGraphicFramePr>
          <p:cNvPr id="6" name="Chart 1"/>
          <p:cNvGraphicFramePr/>
          <p:nvPr/>
        </p:nvGraphicFramePr>
        <p:xfrm>
          <a:off x="3291840" y="1325880"/>
          <a:ext cx="28346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 2"/>
          <p:cNvSpPr/>
          <p:nvPr/>
        </p:nvSpPr>
        <p:spPr>
          <a:xfrm>
            <a:off x="3291840" y="1097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500"/>
                </a:solidFill>
              </a:rPr>
              <a:t>Age Group Distribution</a:t>
            </a:r>
            <a:endParaRPr lang="en-US" sz="1200" dirty="0"/>
          </a:p>
        </p:txBody>
      </p:sp>
      <p:graphicFrame>
        <p:nvGraphicFramePr>
          <p:cNvPr id="8" name="Chart 2"/>
          <p:cNvGraphicFramePr/>
          <p:nvPr/>
        </p:nvGraphicFramePr>
        <p:xfrm>
          <a:off x="6309360" y="1325880"/>
          <a:ext cx="25603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9" name="Text 3"/>
          <p:cNvSpPr/>
          <p:nvPr/>
        </p:nvSpPr>
        <p:spPr>
          <a:xfrm>
            <a:off x="630936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500"/>
                </a:solidFill>
              </a:rPr>
              <a:t>By Region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274320" y="4133088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5"/>
          <p:cNvSpPr/>
          <p:nvPr/>
        </p:nvSpPr>
        <p:spPr>
          <a:xfrm>
            <a:off x="274320" y="4160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3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64.5%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274320" y="45354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learners are aged 21–25</a:t>
            </a:r>
            <a:endParaRPr lang="en-US" sz="950" dirty="0"/>
          </a:p>
        </p:txBody>
      </p:sp>
      <p:sp>
        <p:nvSpPr>
          <p:cNvPr id="13" name="Shape 7"/>
          <p:cNvSpPr/>
          <p:nvPr/>
        </p:nvSpPr>
        <p:spPr>
          <a:xfrm>
            <a:off x="2514600" y="4133088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8"/>
          <p:cNvSpPr/>
          <p:nvPr/>
        </p:nvSpPr>
        <p:spPr>
          <a:xfrm>
            <a:off x="2514600" y="4160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3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58.6%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2514600" y="45354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Male  |  41.2% Female</a:t>
            </a:r>
            <a:endParaRPr lang="en-US" sz="950" dirty="0"/>
          </a:p>
        </p:txBody>
      </p:sp>
      <p:sp>
        <p:nvSpPr>
          <p:cNvPr id="16" name="Shape 10"/>
          <p:cNvSpPr/>
          <p:nvPr/>
        </p:nvSpPr>
        <p:spPr>
          <a:xfrm>
            <a:off x="4754880" y="4133088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4754880" y="4160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3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4754880" y="45354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US + India combined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6995160" y="4133088"/>
            <a:ext cx="2011680" cy="804672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995160" y="4160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63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6995160" y="45354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African learners — growing fast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146304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MODEL RESULTS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280160"/>
          <a:ext cx="53035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274320" y="1051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500"/>
                </a:solidFill>
              </a:rPr>
              <a:t>Model Performance Comparison (%)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5852160" y="1280160"/>
            <a:ext cx="3017520" cy="1463040"/>
          </a:xfrm>
          <a:prstGeom prst="roundRect">
            <a:avLst>
              <a:gd name="adj" fmla="val 6250"/>
            </a:avLst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852160" y="1325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🏆  BEST MODEL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852160" y="17190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Gradient Boosting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5852160" y="212140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AUC-ROC: 91.99%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Accuracy: 86.71%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CV AUC: 91.12% ± 0.87%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5852160" y="2880360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852160" y="2907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0B8C8"/>
                </a:solidFill>
              </a:rPr>
              <a:t>5-Fold CV AUC (training set)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852160" y="31821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0F0"/>
                </a:solidFill>
              </a:rPr>
              <a:t>RF: 91.46%  ·  GB: 91.12%  ·  LR: 89.58%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852160" y="3840480"/>
            <a:ext cx="3017520" cy="777240"/>
          </a:xfrm>
          <a:prstGeom prst="roundRect">
            <a:avLst>
              <a:gd name="adj" fmla="val 11765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5852160" y="3858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4500"/>
                </a:solidFill>
              </a:rPr>
              <a:t>#1 Feature: Opportunity Category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852160" y="416966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0F0"/>
                </a:solidFill>
              </a:rPr>
              <a:t>54.9% of model information gain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74320" y="46634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D63384">
              <a:alpha val="15000"/>
            </a:srgbClr>
          </a:solidFill>
          <a:ln w="12700">
            <a:solidFill>
              <a:srgbClr val="D63384">
                <a:alpha val="4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All 3 models &gt;86% accuracy &amp; &gt;90% AUC — predictions are reliable and deployment-ready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146304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&amp; MODEL VISUALS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280160"/>
          <a:ext cx="51206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274320" y="1051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500"/>
                </a:solidFill>
              </a:rPr>
              <a:t>Feature Importance — RF vs GB (%)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5669280" y="1280160"/>
            <a:ext cx="3200400" cy="804672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669280" y="1316736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4500"/>
                </a:solidFill>
              </a:rPr>
              <a:t>54.9%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446520" y="13167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Opportunity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Category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446520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C8"/>
                </a:solidFill>
              </a:rPr>
              <a:t>Dominant predictor — category determines outcome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669280" y="2194560"/>
            <a:ext cx="3200400" cy="804672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669280" y="2231136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4500"/>
                </a:solidFill>
              </a:rPr>
              <a:t>12.8%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46520" y="22311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Region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446520" y="25968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C8"/>
                </a:solidFill>
              </a:rPr>
              <a:t>Geography = 2nd most important signal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669280" y="3108960"/>
            <a:ext cx="3200400" cy="804672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669280" y="3145536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4500"/>
                </a:solidFill>
              </a:rPr>
              <a:t>11.8%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446520" y="31455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App. Quarter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6446520" y="35112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C8"/>
                </a:solidFill>
              </a:rPr>
              <a:t>Seasonal outreach patterns matter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669280" y="4023360"/>
            <a:ext cx="3200400" cy="804672"/>
          </a:xfrm>
          <a:prstGeom prst="roundRect">
            <a:avLst>
              <a:gd name="adj" fmla="val 9091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669280" y="4059936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4500"/>
                </a:solidFill>
              </a:rPr>
              <a:t>2.5%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446520" y="405993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Gender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446520" y="44256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8C8"/>
                </a:solidFill>
              </a:rPr>
              <a:t>Lowest overall — but Africa shows gap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146304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PARTICIPATION PROBABILITIES</a:t>
            </a:r>
            <a:endParaRPr lang="en-US" sz="2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261872"/>
            <a:ext cx="5029200" cy="3200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74320" y="1051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500"/>
                </a:solidFill>
              </a:rPr>
              <a:t>Predicted Active Probability: Category × Region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577840" y="1261872"/>
          <a:ext cx="32918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Text 2"/>
          <p:cNvSpPr/>
          <p:nvPr/>
        </p:nvSpPr>
        <p:spPr>
          <a:xfrm>
            <a:off x="5577840" y="10515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4500"/>
                </a:solidFill>
              </a:rPr>
              <a:t>Avg Predicted Active Prob. by Category (%)</a:t>
            </a:r>
            <a:endParaRPr lang="en-US" sz="1100" dirty="0"/>
          </a:p>
        </p:txBody>
      </p:sp>
      <p:sp>
        <p:nvSpPr>
          <p:cNvPr id="8" name="Shape 3"/>
          <p:cNvSpPr/>
          <p:nvPr/>
        </p:nvSpPr>
        <p:spPr>
          <a:xfrm>
            <a:off x="274320" y="46634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F4500">
              <a:alpha val="15000"/>
            </a:srgbClr>
          </a:solidFill>
          <a:ln w="12700">
            <a:solidFill>
              <a:srgbClr val="FF4500">
                <a:alpha val="40000"/>
              </a:srgbClr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Non-internship formats: 97–99% predicted Active rate  ·  Internships: 30–56% — capacity bottleneck confirmed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146304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TRENDS &amp; PIPELINE ANALYSIS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1261872"/>
          <a:ext cx="56692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Text 1"/>
          <p:cNvSpPr/>
          <p:nvPr/>
        </p:nvSpPr>
        <p:spPr>
          <a:xfrm>
            <a:off x="274320" y="10515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4500"/>
                </a:solidFill>
              </a:rPr>
              <a:t>2024 Monthly Application Volume</a:t>
            </a:r>
            <a:endParaRPr lang="en-US" sz="1300" dirty="0"/>
          </a:p>
        </p:txBody>
      </p:sp>
      <p:sp>
        <p:nvSpPr>
          <p:cNvPr id="6" name="Shape 2"/>
          <p:cNvSpPr/>
          <p:nvPr/>
        </p:nvSpPr>
        <p:spPr>
          <a:xfrm>
            <a:off x="6126480" y="1261872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6126480" y="1298448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4500"/>
                </a:solidFill>
              </a:rPr>
              <a:t>Q1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720840" y="12984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3,412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720840" y="166420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8"/>
                </a:solidFill>
              </a:rPr>
              <a:t>39.8% of total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126480" y="2103120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126480" y="2139696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B8C8"/>
                </a:solidFill>
              </a:rPr>
              <a:t>Q2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720840" y="21396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1,371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720840" y="25054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8"/>
                </a:solidFill>
              </a:rPr>
              <a:t>16.0% of total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26480" y="2944368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126480" y="2980944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B8C8"/>
                </a:solidFill>
              </a:rPr>
              <a:t>Q3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720840" y="29809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2,130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720840" y="334670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8"/>
                </a:solidFill>
              </a:rPr>
              <a:t>24.9% of total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6126480" y="3785616"/>
            <a:ext cx="2743200" cy="749808"/>
          </a:xfrm>
          <a:prstGeom prst="roundRect">
            <a:avLst>
              <a:gd name="adj" fmla="val 9756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126480" y="3822192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3384"/>
                </a:solidFill>
              </a:rPr>
              <a:t>Q4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6720840" y="38221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1,641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6720840" y="41879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8"/>
                </a:solidFill>
              </a:rPr>
              <a:t>19.2% of total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74320" y="4663440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D63384">
              <a:alpha val="15000"/>
            </a:srgbClr>
          </a:solidFill>
          <a:ln w="12700">
            <a:solidFill>
              <a:srgbClr val="D63384">
                <a:alpha val="4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5760" y="46817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Q1 surge (Jan–Feb 2024) = 10× baseline.  Recommendation: Launch Q4 outreach to fuel next Q1 intake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4592"/>
            <a:ext cx="146304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RECOMMENDATIONS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274320" y="141732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365760" y="14904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4500"/>
          </a:solidFill>
          <a:ln w="12700">
            <a:solidFill>
              <a:srgbClr val="FF450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490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CRITICAL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444752" y="14721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Internship Capacity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84048" y="18928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associate-level feeder tracks; open slots before applications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2569464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642616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642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444752" y="2624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Outreach Campaign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84048" y="30449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Oct–Nov to prime Q1 surge; Africa Q2 separate campaign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3721608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" y="37947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444752" y="37764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 &amp; Gender Equity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84048" y="41970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Africa-specific opportunities; dedicated outreach for African women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63440" y="1417320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54880" y="1490472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754880" y="14904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833872" y="14721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Drop-Out Prevention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773168" y="189280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scores trigger check-ins below 40% probability threshold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663440" y="2569464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754880" y="2642616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54880" y="26426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5833872" y="26243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 as Pipeline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773168" y="304495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courses mandatory pre-qualifier for internship applications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63440" y="3721608"/>
            <a:ext cx="4206240" cy="1005840"/>
          </a:xfrm>
          <a:prstGeom prst="roundRect">
            <a:avLst>
              <a:gd name="adj" fmla="val 7273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  <a:effectLst>
            <a:outerShdw blurRad="101600" dist="3810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754880" y="379476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54880" y="3794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5833872" y="37764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Deployment (4 Phases)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773168" y="41970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GB scorer → automate alerts → add features → multi-class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FF4500">
              <a:alpha val="12000"/>
            </a:srgbClr>
          </a:solidFill>
          <a:ln w="12700">
            <a:solidFill>
              <a:srgbClr val="FF45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D63384">
              <a:alpha val="12000"/>
            </a:srgbClr>
          </a:solidFill>
          <a:ln w="12700">
            <a:solidFill>
              <a:srgbClr val="D63384">
                <a:alpha val="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365760"/>
            <a:ext cx="182880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143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4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Data to Impact</a:t>
            </a:r>
            <a:endParaRPr lang="en-US" sz="3800" dirty="0"/>
          </a:p>
        </p:txBody>
      </p:sp>
      <p:sp>
        <p:nvSpPr>
          <p:cNvPr id="7" name="Shape 4"/>
          <p:cNvSpPr/>
          <p:nvPr/>
        </p:nvSpPr>
        <p:spPr>
          <a:xfrm>
            <a:off x="914400" y="2514600"/>
            <a:ext cx="7315200" cy="365760"/>
          </a:xfrm>
          <a:prstGeom prst="roundRect">
            <a:avLst>
              <a:gd name="adj" fmla="val 15000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253288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8,558 records → 3 ML models → 91.99% AUC → 22 opportunity probability scores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2953512"/>
            <a:ext cx="7315200" cy="365760"/>
          </a:xfrm>
          <a:prstGeom prst="roundRect">
            <a:avLst>
              <a:gd name="adj" fmla="val 15000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97180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Internship capacity is the #1 platform constraint — not learner quality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" y="3392424"/>
            <a:ext cx="7315200" cy="365760"/>
          </a:xfrm>
          <a:prstGeom prst="roundRect">
            <a:avLst>
              <a:gd name="adj" fmla="val 15000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341071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Africa &amp; gender equity is the most underserved opportunity for growth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14400" y="3831336"/>
            <a:ext cx="7315200" cy="365760"/>
          </a:xfrm>
          <a:prstGeom prst="roundRect">
            <a:avLst>
              <a:gd name="adj" fmla="val 15000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384962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Q4 outreach + Course pipeline → highest ROI programme interventions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4400" y="4270248"/>
            <a:ext cx="7315200" cy="365760"/>
          </a:xfrm>
          <a:prstGeom prst="roundRect">
            <a:avLst>
              <a:gd name="adj" fmla="val 15000"/>
            </a:avLst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4288536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Gradient Boosting model is deployment-ready for live application scoring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14400" y="4736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8  ·  AI Data Internship  ·  Excelerate  ·  June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779</Words>
  <Application>Microsoft Office PowerPoint</Application>
  <PresentationFormat>On-screen Show (16:9)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Final Presentation — Team 8</dc:title>
  <dc:subject>PptxGenJS Presentation</dc:subject>
  <dc:creator>Team 8</dc:creator>
  <cp:lastModifiedBy>user</cp:lastModifiedBy>
  <cp:revision>3</cp:revision>
  <dcterms:created xsi:type="dcterms:W3CDTF">2026-07-04T13:46:40Z</dcterms:created>
  <dcterms:modified xsi:type="dcterms:W3CDTF">2026-07-04T14:56:51Z</dcterms:modified>
</cp:coreProperties>
</file>